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76200" cy="1143000"/>
          </a:xfrm>
          <a:prstGeom prst="rect">
            <a:avLst/>
          </a:prstGeom>
          <a:solidFill>
            <a:srgbClr val="FACC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66800" y="800100"/>
            <a:ext cx="37304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BRAINCREW INTELLIGENCE / Q1 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66800" y="2095500"/>
            <a:ext cx="7461504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20"/>
              </a:lnSpc>
              <a:spcAft>
                <a:spcPts val="1200"/>
              </a:spcAft>
              <a:buNone/>
            </a:pPr>
            <a:r>
              <a:rPr lang="en-US" sz="42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of </a:t>
            </a:r>
            <a:pPr algn="l" indent="0" marL="0">
              <a:lnSpc>
                <a:spcPts val="4620"/>
              </a:lnSpc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FACC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Adoption</a:t>
            </a:r>
            <a:pPr algn="l" indent="0" marL="0">
              <a:lnSpc>
                <a:spcPts val="4620"/>
              </a:lnSpc>
              <a:spcAft>
                <a:spcPts val="1200"/>
              </a:spcAft>
              <a:buNone/>
            </a:pPr>
            <a:endParaRPr lang="en-US" sz="4200" dirty="0"/>
          </a:p>
          <a:p>
            <a:pPr algn="l" indent="0" marL="0">
              <a:lnSpc>
                <a:spcPts val="4620"/>
              </a:lnSpc>
              <a:spcAft>
                <a:spcPts val="1200"/>
              </a:spcAft>
              <a:buNone/>
            </a:pPr>
            <a:r>
              <a:rPr lang="en-US" sz="42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Enterprise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066800" y="3421261"/>
            <a:ext cx="746150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diffusion report — 1,240 companies surveyed across 14 sectors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4400550"/>
            <a:ext cx="7620000" cy="190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4552950"/>
            <a:ext cx="77724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NO. 2026-Q1-AI-014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80832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9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9600" y="781050"/>
            <a:ext cx="808329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numbers that </a:t>
            </a:r>
            <a:pPr algn="l" indent="0" marL="0">
              <a:buNone/>
            </a:pPr>
            <a:r>
              <a:rPr lang="en-US" sz="27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moved this quarter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714500"/>
            <a:ext cx="1943100" cy="270510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22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9150" y="2076450"/>
            <a:ext cx="1554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19150" y="2876550"/>
            <a:ext cx="5185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9150" y="3638550"/>
            <a:ext cx="1554480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enterprises now run at least one production AI workload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67000" y="1714500"/>
            <a:ext cx="1943100" cy="2705100"/>
          </a:xfrm>
          <a:prstGeom prst="rect">
            <a:avLst/>
          </a:prstGeom>
          <a:solidFill>
            <a:srgbClr val="0B1220"/>
          </a:solidFill>
          <a:ln w="19050">
            <a:solidFill>
              <a:srgbClr val="0B122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76550" y="2076450"/>
            <a:ext cx="1554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ACC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3.4x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876550" y="2876550"/>
            <a:ext cx="9935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over year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76550" y="3638550"/>
            <a:ext cx="1554480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in inference spend among Fortune 500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24400" y="1714500"/>
            <a:ext cx="1943100" cy="270510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22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33950" y="2076450"/>
            <a:ext cx="1554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933950" y="2876550"/>
            <a:ext cx="8813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median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3950" y="3638550"/>
            <a:ext cx="1554480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prototype to production for new AI features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81800" y="1714500"/>
            <a:ext cx="1943100" cy="2705100"/>
          </a:xfrm>
          <a:prstGeom prst="rect">
            <a:avLst/>
          </a:prstGeom>
          <a:solidFill>
            <a:srgbClr val="FACC15"/>
          </a:solidFill>
          <a:ln w="19050">
            <a:solidFill>
              <a:srgbClr val="0B122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91350" y="2076450"/>
            <a:ext cx="1554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$1.2B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991350" y="2876550"/>
            <a:ext cx="7430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91350" y="3638550"/>
            <a:ext cx="155448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saved via on-prem inference vs. API fallback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9600" y="4762500"/>
            <a:ext cx="28722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Braincrew Enterprise AI Survey 2026 Q1 — n=1,240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80832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9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BREAKDOWN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9600" y="781050"/>
            <a:ext cx="8083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AI adoption — by sector (% of firms)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1238250"/>
            <a:ext cx="5829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 and software lead; manufacturing and retail are accelerating but from a lower base.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4267200"/>
            <a:ext cx="5715000" cy="1905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2781300"/>
            <a:ext cx="762000" cy="148590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847850" y="2400300"/>
            <a:ext cx="762000" cy="186690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895600" y="3162300"/>
            <a:ext cx="762000" cy="110490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43350" y="3467100"/>
            <a:ext cx="762000" cy="80010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91100" y="3695700"/>
            <a:ext cx="762000" cy="571500"/>
          </a:xfrm>
          <a:prstGeom prst="rect">
            <a:avLst/>
          </a:prstGeom>
          <a:solidFill>
            <a:srgbClr val="FACC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92480" y="2562225"/>
            <a:ext cx="7772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40230" y="2181225"/>
            <a:ext cx="7772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87980" y="2943225"/>
            <a:ext cx="7772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5730" y="3248025"/>
            <a:ext cx="7772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3476625"/>
            <a:ext cx="7772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2480" y="4381500"/>
            <a:ext cx="7772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840230" y="4381500"/>
            <a:ext cx="7772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2887980" y="4381500"/>
            <a:ext cx="7772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935730" y="4381500"/>
            <a:ext cx="7772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Manufactr.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983480" y="4381500"/>
            <a:ext cx="7772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629400" y="2095500"/>
            <a:ext cx="1905000" cy="247650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81800" y="2247900"/>
            <a:ext cx="8033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781800" y="2571750"/>
            <a:ext cx="1600200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30"/>
              </a:lnSpc>
              <a:buSzPct val="100000"/>
              <a:buChar char="•"/>
            </a:pPr>
            <a:r>
              <a:rPr lang="en-US" sz="9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near saturation</a:t>
            </a:r>
            <a:endParaRPr lang="en-US" sz="900" dirty="0"/>
          </a:p>
          <a:p>
            <a:pPr algn="l" marL="342900" indent="-342900">
              <a:lnSpc>
                <a:spcPts val="1530"/>
              </a:lnSpc>
              <a:buSzPct val="100000"/>
              <a:buChar char="•"/>
            </a:pPr>
            <a:r>
              <a:rPr lang="en-US" sz="9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+18pt YoY</a:t>
            </a:r>
            <a:endParaRPr lang="en-US" sz="900" dirty="0"/>
          </a:p>
          <a:p>
            <a:pPr algn="l" marL="342900" indent="-342900">
              <a:lnSpc>
                <a:spcPts val="1530"/>
              </a:lnSpc>
              <a:buSzPct val="100000"/>
              <a:buChar char="•"/>
            </a:pPr>
            <a:r>
              <a:rPr lang="en-US" sz="9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</a:t>
            </a:r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2.1x growth</a:t>
            </a:r>
            <a:endParaRPr lang="en-US" sz="900" dirty="0"/>
          </a:p>
          <a:p>
            <a:pPr algn="l" marL="342900" indent="-342900">
              <a:lnSpc>
                <a:spcPts val="1530"/>
              </a:lnSpc>
              <a:buSzPct val="100000"/>
              <a:buChar char="•"/>
            </a:pPr>
            <a:r>
              <a:rPr lang="en-US" sz="9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</a:t>
            </a:r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still early days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9600" y="4762500"/>
            <a:ext cx="42505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Bars represent share of firms with at least one production AI workload (n=1,240; Q1 2026)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80832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VS NOW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808329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changed since the </a:t>
            </a:r>
            <a:pPr algn="l" indent="0" marL="0">
              <a:buNone/>
            </a:pPr>
            <a:r>
              <a:rPr lang="en-US" sz="225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 baseline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609600" y="1524000"/>
            <a:ext cx="3657600" cy="308610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22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57250" y="1733550"/>
            <a:ext cx="32255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57250" y="1924050"/>
            <a:ext cx="322554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 Q1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57250" y="2362200"/>
            <a:ext cx="3162300" cy="1905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57250" y="2514600"/>
            <a:ext cx="3162300" cy="158859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785"/>
              </a:lnSpc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 </a:t>
            </a:r>
            <a:pPr algn="l" indent="0" marL="0">
              <a:lnSpc>
                <a:spcPts val="1785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project</a:t>
            </a:r>
            <a:pPr algn="l" indent="0" marL="0">
              <a:lnSpc>
                <a:spcPts val="1785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31% had any production use</a:t>
            </a:r>
            <a:endParaRPr lang="en-US" sz="1050" dirty="0"/>
          </a:p>
          <a:p>
            <a:pPr algn="l" marL="95250" indent="-95250">
              <a:lnSpc>
                <a:spcPts val="1785"/>
              </a:lnSpc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time to prod: </a:t>
            </a:r>
            <a:pPr algn="l" indent="0" marL="0">
              <a:lnSpc>
                <a:spcPts val="1785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 days</a:t>
            </a:r>
            <a:endParaRPr lang="en-US" sz="1050" dirty="0"/>
          </a:p>
          <a:p>
            <a:pPr algn="l" marL="95250" indent="-95250">
              <a:lnSpc>
                <a:spcPts val="1785"/>
              </a:lnSpc>
              <a:spcAft>
                <a:spcPts val="450"/>
              </a:spcAft>
              <a:buSzPct val="100000"/>
              <a:buChar char="•"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API-only</a:t>
            </a:r>
            <a:pPr algn="l" indent="0" marL="0">
              <a:lnSpc>
                <a:spcPts val="1785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inference; vendor lock-in concerns rising</a:t>
            </a:r>
            <a:endParaRPr lang="en-US" sz="1050" dirty="0"/>
          </a:p>
          <a:p>
            <a:pPr algn="l" marL="95250" indent="-95250">
              <a:lnSpc>
                <a:spcPts val="1785"/>
              </a:lnSpc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bottleneck: </a:t>
            </a:r>
            <a:pPr algn="l" indent="0" marL="0">
              <a:lnSpc>
                <a:spcPts val="1785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months</a:t>
            </a:r>
            <a:pPr algn="l" indent="0" marL="0">
              <a:lnSpc>
                <a:spcPts val="1785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fill ML roles</a:t>
            </a:r>
            <a:endParaRPr lang="en-US" sz="1050" dirty="0"/>
          </a:p>
          <a:p>
            <a:pPr algn="l" marL="95250" indent="-95250">
              <a:lnSpc>
                <a:spcPts val="1785"/>
              </a:lnSpc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centralized under </a:t>
            </a:r>
            <a:pPr algn="l" indent="0" marL="0">
              <a:lnSpc>
                <a:spcPts val="1785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/ R&amp;D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14900" y="1524000"/>
            <a:ext cx="3657600" cy="3086100"/>
          </a:xfrm>
          <a:prstGeom prst="rect">
            <a:avLst/>
          </a:prstGeom>
          <a:solidFill>
            <a:srgbClr val="0B1220"/>
          </a:solidFill>
          <a:ln w="19050">
            <a:solidFill>
              <a:srgbClr val="0B122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62550" y="1733550"/>
            <a:ext cx="32255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ACC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62550" y="1924050"/>
            <a:ext cx="322554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Q1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162550" y="2362200"/>
            <a:ext cx="3162300" cy="19050"/>
          </a:xfrm>
          <a:prstGeom prst="rect">
            <a:avLst/>
          </a:prstGeom>
          <a:solidFill>
            <a:srgbClr val="FACC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62550" y="2514600"/>
            <a:ext cx="3162300" cy="158859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785"/>
              </a:lnSpc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 </a:t>
            </a:r>
            <a:pPr algn="l" indent="0" marL="0">
              <a:lnSpc>
                <a:spcPts val="1785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dependency</a:t>
            </a:r>
            <a:pPr algn="l" indent="0" marL="0">
              <a:lnSpc>
                <a:spcPts val="1785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78% production-grade</a:t>
            </a:r>
            <a:endParaRPr lang="en-US" sz="1050" dirty="0"/>
          </a:p>
          <a:p>
            <a:pPr algn="l" marL="95250" indent="-95250">
              <a:lnSpc>
                <a:spcPts val="1785"/>
              </a:lnSpc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time to prod: </a:t>
            </a:r>
            <a:pPr algn="l" indent="0" marL="0">
              <a:lnSpc>
                <a:spcPts val="1785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days</a:t>
            </a:r>
            <a:endParaRPr lang="en-US" sz="1050" dirty="0"/>
          </a:p>
          <a:p>
            <a:pPr algn="l" marL="95250" indent="-95250">
              <a:lnSpc>
                <a:spcPts val="1785"/>
              </a:lnSpc>
              <a:spcAft>
                <a:spcPts val="450"/>
              </a:spcAft>
              <a:buSzPct val="100000"/>
              <a:buChar char="•"/>
            </a:pPr>
            <a:r>
              <a:rPr lang="en-US" sz="105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stack</a:t>
            </a:r>
            <a:pPr algn="l" indent="0" marL="0">
              <a:lnSpc>
                <a:spcPts val="1785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on-prem inference + frontier APIs</a:t>
            </a:r>
            <a:endParaRPr lang="en-US" sz="1050" dirty="0"/>
          </a:p>
          <a:p>
            <a:pPr algn="l" marL="95250" indent="-95250">
              <a:lnSpc>
                <a:spcPts val="1785"/>
              </a:lnSpc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Hiring: </a:t>
            </a:r>
            <a:pPr algn="l" indent="0" marL="0">
              <a:lnSpc>
                <a:spcPts val="1785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months</a:t>
            </a:r>
            <a:pPr algn="l" indent="0" marL="0">
              <a:lnSpc>
                <a:spcPts val="1785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internal upskilling now standard</a:t>
            </a:r>
            <a:endParaRPr lang="en-US" sz="1050" dirty="0"/>
          </a:p>
          <a:p>
            <a:pPr algn="l" marL="95250" indent="-95250">
              <a:lnSpc>
                <a:spcPts val="1785"/>
              </a:lnSpc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devolved to </a:t>
            </a:r>
            <a:pPr algn="l" indent="0" marL="0">
              <a:lnSpc>
                <a:spcPts val="1785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of business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9600" y="4800600"/>
            <a:ext cx="30058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columns: same 1,240-firm panel surveyed in both quarters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80832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TREND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808329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quarters of enterprise AI metrics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609600" y="1428750"/>
            <a:ext cx="7924800" cy="428625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1852612"/>
            <a:ext cx="79248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2000" y="1562100"/>
            <a:ext cx="27203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634740" y="1562100"/>
            <a:ext cx="11658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Q1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968240" y="1562100"/>
            <a:ext cx="11658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Q2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6301740" y="1562100"/>
            <a:ext cx="11658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Q4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7639050" y="1562100"/>
            <a:ext cx="9715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Q1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609600" y="1847850"/>
            <a:ext cx="7924800" cy="3905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09600" y="2233613"/>
            <a:ext cx="79248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000" y="1962150"/>
            <a:ext cx="27203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AI adoption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634740" y="1962150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52%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68240" y="1962150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1740" y="1962150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639050" y="1962150"/>
            <a:ext cx="97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9600" y="2228850"/>
            <a:ext cx="7924800" cy="390525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09600" y="2614613"/>
            <a:ext cx="79248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2000" y="2343150"/>
            <a:ext cx="27203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time to prod (days)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3634740" y="2343150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68240" y="2343150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01740" y="2343150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639050" y="2343150"/>
            <a:ext cx="97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9600" y="2609850"/>
            <a:ext cx="7924800" cy="3905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09600" y="2995613"/>
            <a:ext cx="79248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2000" y="2724150"/>
            <a:ext cx="27203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spend index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3634740" y="2724150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68240" y="2724150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01740" y="2724150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231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639050" y="2724150"/>
            <a:ext cx="97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09600" y="2990850"/>
            <a:ext cx="7924800" cy="390525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09600" y="3376613"/>
            <a:ext cx="79248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2000" y="3105150"/>
            <a:ext cx="27203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 share of inference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3634740" y="3105150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68240" y="3105150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18%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01740" y="3105150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29%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639050" y="3105150"/>
            <a:ext cx="97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41%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09600" y="3371850"/>
            <a:ext cx="7924800" cy="3905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609600" y="3757613"/>
            <a:ext cx="79248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2000" y="3486150"/>
            <a:ext cx="27203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hires per 1,000 employees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3634740" y="3486150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968240" y="3486150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3.9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301740" y="3486150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5.1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639050" y="3486150"/>
            <a:ext cx="97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6.4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09600" y="3752850"/>
            <a:ext cx="7924800" cy="390525"/>
          </a:xfrm>
          <a:prstGeom prst="rect">
            <a:avLst/>
          </a:prstGeom>
          <a:solidFill>
            <a:srgbClr val="FACC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609600" y="4138613"/>
            <a:ext cx="79248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2000" y="3867150"/>
            <a:ext cx="27203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adoption index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3634740" y="3867150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968240" y="3867150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128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301740" y="3867150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182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639050" y="3867150"/>
            <a:ext cx="97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241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09600" y="4800600"/>
            <a:ext cx="42031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index: equal-weight z-score of the five rows above, indexed to Q1 2025 = 100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77724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9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QUARTER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62000" y="857250"/>
            <a:ext cx="77724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priorities to </a:t>
            </a:r>
            <a:pPr algn="l" indent="0" marL="0">
              <a:buNone/>
            </a:pPr>
            <a:r>
              <a:rPr lang="en-US" sz="2700" b="1" dirty="0">
                <a:solidFill>
                  <a:srgbClr val="FACC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on now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2000" y="1714500"/>
            <a:ext cx="342900" cy="342900"/>
          </a:xfrm>
          <a:prstGeom prst="rect">
            <a:avLst/>
          </a:prstGeom>
          <a:solidFill>
            <a:srgbClr val="FACC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8571" y="1714500"/>
            <a:ext cx="3497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35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257300" y="1752600"/>
            <a:ext cx="182651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ACC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inference on-prem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62000" y="2247900"/>
            <a:ext cx="2331720" cy="767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1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 share crossed </a:t>
            </a:r>
            <a:pPr algn="l" indent="0" marL="0">
              <a:lnSpc>
                <a:spcPts val="1511"/>
              </a:lnSpc>
              <a:buNone/>
            </a:pPr>
            <a:r>
              <a:rPr lang="en-US" sz="9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pPr algn="l" indent="0" marL="0">
              <a:lnSpc>
                <a:spcPts val="1511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this quarter and cost-per-token continues to fall. Defer further API commitments until Q2 reassessment.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429000" y="1714500"/>
            <a:ext cx="342900" cy="342900"/>
          </a:xfrm>
          <a:prstGeom prst="rect">
            <a:avLst/>
          </a:prstGeom>
          <a:solidFill>
            <a:srgbClr val="FACC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25571" y="1714500"/>
            <a:ext cx="3497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35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924300" y="1752600"/>
            <a:ext cx="16325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ACC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Devolve AI budget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29000" y="2247900"/>
            <a:ext cx="2331720" cy="767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1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Highest-velocity firms put AI budget under </a:t>
            </a:r>
            <a:pPr algn="l" indent="0" marL="0">
              <a:lnSpc>
                <a:spcPts val="1511"/>
              </a:lnSpc>
              <a:buNone/>
            </a:pPr>
            <a:r>
              <a:rPr lang="en-US" sz="9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line-of-business owners</a:t>
            </a:r>
            <a:pPr algn="l" indent="0" marL="0">
              <a:lnSpc>
                <a:spcPts val="1511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central IT. Centralization correlates with longer time-to-prod.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096000" y="1714500"/>
            <a:ext cx="342900" cy="342900"/>
          </a:xfrm>
          <a:prstGeom prst="rect">
            <a:avLst/>
          </a:prstGeom>
          <a:solidFill>
            <a:srgbClr val="FACC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92571" y="1714500"/>
            <a:ext cx="3497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35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91300" y="1752600"/>
            <a:ext cx="182651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ACC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Upskill, don't only hire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6000" y="2247900"/>
            <a:ext cx="2331720" cy="57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1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upskilling cut median hire-time from </a:t>
            </a:r>
            <a:pPr algn="l" indent="0" marL="0">
              <a:lnSpc>
                <a:spcPts val="1511"/>
              </a:lnSpc>
              <a:buNone/>
            </a:pPr>
            <a:r>
              <a:rPr lang="en-US" sz="9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to 2.1 months</a:t>
            </a:r>
            <a:pPr algn="l" indent="0" marL="0">
              <a:lnSpc>
                <a:spcPts val="1511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Pair every new ML role with an internal rotation.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762000" y="4076700"/>
            <a:ext cx="7620000" cy="533400"/>
          </a:xfrm>
          <a:prstGeom prst="rect">
            <a:avLst/>
          </a:prstGeom>
          <a:solidFill>
            <a:srgbClr val="FACC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90600" y="4248150"/>
            <a:ext cx="42675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dataset and methodology available — request access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72485" y="4267200"/>
            <a:ext cx="21225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BRAINCREW.COM/AI-REPORT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2026-05-15T17:39:51Z</dcterms:created>
  <dcterms:modified xsi:type="dcterms:W3CDTF">2026-05-15T17:39:51Z</dcterms:modified>
</cp:coreProperties>
</file>